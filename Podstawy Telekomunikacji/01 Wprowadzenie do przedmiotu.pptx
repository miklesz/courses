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/>
    <p:restoredTop sz="94655"/>
  </p:normalViewPr>
  <p:slideViewPr>
    <p:cSldViewPr snapToGrid="0" snapToObjects="1">
      <p:cViewPr varScale="1">
        <p:scale>
          <a:sx n="117" d="100"/>
          <a:sy n="117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617538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822325" y="3908425"/>
            <a:ext cx="4527550" cy="370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:notes"/>
          <p:cNvSpPr txBox="1">
            <a:spLocks noGrp="1"/>
          </p:cNvSpPr>
          <p:nvPr>
            <p:ph type="sldNum" idx="12"/>
          </p:nvPr>
        </p:nvSpPr>
        <p:spPr>
          <a:xfrm>
            <a:off x="3497263" y="7818438"/>
            <a:ext cx="2674937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617538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12:notes"/>
          <p:cNvSpPr txBox="1">
            <a:spLocks noGrp="1"/>
          </p:cNvSpPr>
          <p:nvPr>
            <p:ph type="body" idx="1"/>
          </p:nvPr>
        </p:nvSpPr>
        <p:spPr>
          <a:xfrm>
            <a:off x="822325" y="3908425"/>
            <a:ext cx="4527550" cy="370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:notes"/>
          <p:cNvSpPr txBox="1">
            <a:spLocks noGrp="1"/>
          </p:cNvSpPr>
          <p:nvPr>
            <p:ph type="sldNum" idx="12"/>
          </p:nvPr>
        </p:nvSpPr>
        <p:spPr>
          <a:xfrm>
            <a:off x="3497263" y="7818438"/>
            <a:ext cx="2674937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55B8A37-F0A2-DC45-B007-521AF3BBF093}" type="datetime1">
              <a:rPr lang="en-US" smtClean="0"/>
              <a:t>10/4/25</a:t>
            </a:fld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EEB8BC0-17BF-6D41-908F-B3FE8B54352A}" type="datetime1">
              <a:rPr lang="en-US" smtClean="0"/>
              <a:t>10/4/25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29A8FB38-23C9-5744-A8CC-41A47CD8F9DA}" type="datetime1">
              <a:rPr lang="en-US" smtClean="0"/>
              <a:t>10/4/25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FFF7D9A-68CC-FE43-A301-F4479D1013F4}" type="datetime1">
              <a:rPr lang="en-US" smtClean="0"/>
              <a:t>10/4/25</a:t>
            </a:fld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A3B7CEF-416D-F047-8D0C-EB3CB5C5B899}" type="datetime1">
              <a:rPr lang="en-US" smtClean="0"/>
              <a:t>10/4/25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F7AFF0C-8C60-5544-AFCC-B7D34A5E2455}" type="datetime1">
              <a:rPr lang="en-US" smtClean="0"/>
              <a:t>10/4/25</a:t>
            </a:fld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6010FCD-8E12-5645-8115-B1A36EEF1481}" type="datetime1">
              <a:rPr lang="en-US" smtClean="0"/>
              <a:t>10/4/25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6E250DA2-D215-A74A-B807-E5F38AA23F03}" type="datetime1">
              <a:rPr lang="en-US" smtClean="0"/>
              <a:t>10/4/25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A808F623-21E7-D24C-933F-F0A3B51D58FC}" type="datetime1">
              <a:rPr lang="en-US" smtClean="0"/>
              <a:t>10/4/25</a:t>
            </a:fld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40116C-2BD9-404B-81BE-D7149E22CDBF}" type="datetime1">
              <a:rPr lang="en-US" smtClean="0"/>
              <a:t>10/4/25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7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7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CE22FFA-CD53-7949-AFE9-114AC1921AF6}" type="datetime1">
              <a:rPr lang="en-US" smtClean="0"/>
              <a:t>10/4/25</a:t>
            </a:fld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A2E70E7-2FE6-5F4B-AF8F-8833B54C791B}" type="datetime1">
              <a:rPr lang="en-US" smtClean="0"/>
              <a:t>10/4/25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iklesz/Courses/tree/main/Podstawy%20Telekomunikacji" TargetMode="External"/><Relationship Id="rId4" Type="http://schemas.openxmlformats.org/officeDocument/2006/relationships/hyperlink" Target="mailto:mikolaj@leszcz.uk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Wst%C4%99p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l.wikipedia.org/wiki/Pomoc:Spis_tre%C5%9Bci" TargetMode="External"/><Relationship Id="rId4" Type="http://schemas.openxmlformats.org/officeDocument/2006/relationships/hyperlink" Target="http://pl.wikipedia.org/wiki/Wikipedia:Projekty_szkolne_i_akademickie/zalecenia_dla_uczni%C3%B3w_i_student%C3%B3w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Pytania_nowicjusz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l.wikipedia.org/wiki/Pomoc:FAQ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Spis_tre%C5%9Bci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l.wikipedia.org/wiki/Wikipedia:Brudnopis" TargetMode="External"/><Relationship Id="rId4" Type="http://schemas.openxmlformats.org/officeDocument/2006/relationships/hyperlink" Target="http://pl.wikipedia.org/wiki/Pomoc:Formatowanie_tekstu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Logowani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Wikietykiet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Strona_dyskusj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Strona_u%C5%BCytkownika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l.wikipedia.org/wiki/Pomoc:Podpis_wikipedysty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ommons.wikimedia.org/w/index.php?curid=3798274" TargetMode="External"/><Relationship Id="rId4" Type="http://schemas.openxmlformats.org/officeDocument/2006/relationships/hyperlink" Target="http://pl.wikipedia.org/wiki/Kategoria:Telekomunikacja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Propozycje_temat%C3%B3w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pl.wikipedia.org/wiki/Kategoria:Zal%C4%85%C5%BCki_artyku%C5%82%C3%B3w" TargetMode="External"/><Relationship Id="rId4" Type="http://schemas.openxmlformats.org/officeDocument/2006/relationships/hyperlink" Target="http://pl.wikipedia.org/wiki/Wikipedia:Strony_wymagaj%C4%85ce_dopracowania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Szablon:Potrzebne/Kolejka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l.wikipedia.org/wiki/Wikipedia:T%C5%82umaczenie_miesi%C4%85ca" TargetMode="External"/><Relationship Id="rId4" Type="http://schemas.openxmlformats.org/officeDocument/2006/relationships/hyperlink" Target="http://pl.wikipedia.org/wiki/Wikipedia:Strony_do_przet%C5%82umaczenia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Zal%C4%85%C5%BCki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l.wikipedia.org/wiki/Kategoria:Strony_do_poszerzenia" TargetMode="External"/><Relationship Id="rId4" Type="http://schemas.openxmlformats.org/officeDocument/2006/relationships/hyperlink" Target="http://pl.wikipedia.org/wiki/Wikipedia:Brakuj%C4%85ce_artyku%C5%82y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Specjalna:Porzucone_strony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l.wikipedia.org/wiki/Wikiprojekt:Ilustrowanie" TargetMode="External"/><Relationship Id="rId4" Type="http://schemas.openxmlformats.org/officeDocument/2006/relationships/hyperlink" Target="http://pl.wikipedia.org/wiki/Wikipedia:Artyku%C5%82y_kontrowersyjne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Zasady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l.wikipedia.org/wiki/Wikipedia:Brakuj%C4%85ce_artyku%C5%82y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Wikipedia:Opis_zmian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pl.wikipedia.org/wiki/Pomoc:Historia_strony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hyperlink" Target="http://pl.wikipedia.org/wiki/Licencja_Creative_Commons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pl.wikipedia.org/wiki/Wikipedia:Projekty_szkolne_i_akademickie/zalecenia_dla_uczni%C3%B3w_i_student%C3%B3w" TargetMode="External"/><Relationship Id="rId5" Type="http://schemas.openxmlformats.org/officeDocument/2006/relationships/hyperlink" Target="http://pl.wikipedia.org/wiki/GNU_Free_Documentation_License" TargetMode="External"/><Relationship Id="rId4" Type="http://schemas.openxmlformats.org/officeDocument/2006/relationships/hyperlink" Target="http://www.wikipedia.p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Podstawy telekomunikacji – wprowadzenie do przedmiotu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Font typeface="Arial"/>
              <a:buNone/>
            </a:pPr>
            <a:r>
              <a:rPr lang="pl-PL" sz="3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Mikołaj Leszczuk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Spis treści wykładu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mnie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Ogólne informacje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Kontakt ze mną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Wykład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Organizacja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przedmiotu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Egzamin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MNIE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pl-PL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Czyli głównie o tym jak się ze mną skontaktować...</a:t>
            </a:r>
            <a:endParaRPr sz="20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10174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Ogólne informacje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Mikołaj Leszczuk</a:t>
            </a:r>
            <a:endParaRPr dirty="0"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Stopień naukowy (do wpisu):</a:t>
            </a:r>
            <a:endParaRPr dirty="0"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dr hab. inż.</a:t>
            </a:r>
            <a:endParaRPr dirty="0"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Podstawowe miejsce zatrudnienia:</a:t>
            </a:r>
            <a:endParaRPr dirty="0"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Akademia Górniczo-Hutnicza</a:t>
            </a:r>
            <a:endParaRPr dirty="0"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Instytut Telekomunikacji</a:t>
            </a:r>
            <a:endParaRPr dirty="0"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Kraków</a:t>
            </a:r>
            <a:endParaRPr sz="2400" b="1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10167042" y="6356350"/>
            <a:ext cx="11867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7" descr="C:\Users\Sony\AppData\Local\Microsoft\Windows\Temporary Internet Files\Content.IE5\T031AF31\MP900442479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1249" r="1" b="1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Kontakt ze mną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Osobisty: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ts val="2616"/>
              <a:buFont typeface="Arial"/>
              <a:buChar char="•"/>
            </a:pPr>
            <a:r>
              <a:rPr lang="pl-PL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czasie wykładów i egzaminów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ts val="2616"/>
              <a:buFont typeface="Arial"/>
              <a:buChar char="•"/>
            </a:pPr>
            <a:r>
              <a:rPr lang="pl-PL" sz="2590" dirty="0"/>
              <a:t>I</a:t>
            </a:r>
            <a:r>
              <a:rPr lang="pl-PL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AGH</a:t>
            </a:r>
            <a:endParaRPr dirty="0"/>
          </a:p>
          <a:p>
            <a:pPr marL="342900" marR="0" lvl="0" indent="-2286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E-mail: </a:t>
            </a: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mikolaj@leszcz.uk</a:t>
            </a:r>
            <a:endParaRPr sz="296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Tel.: +48 607 720 398</a:t>
            </a:r>
            <a:endParaRPr dirty="0"/>
          </a:p>
          <a:p>
            <a:pPr marL="342900" marR="0" lvl="0" indent="-2286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Przez dziekanat</a:t>
            </a:r>
            <a:endParaRPr dirty="0"/>
          </a:p>
          <a:p>
            <a:pPr marL="342900" marR="0" lvl="0" indent="-2286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0000"/>
              </a:buClr>
              <a:buSzPts val="2990"/>
              <a:buFont typeface="Arial"/>
              <a:buChar char="•"/>
            </a:pP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Materiały dydaktyczne: </a:t>
            </a:r>
            <a:r>
              <a:rPr lang="pl-PL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https://github.com/miklesz/Courses/tree/main/Podstawy%20Telekomunikacji</a:t>
            </a:r>
            <a:endParaRPr sz="296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WYKŁAD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pl-PL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Czyli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zapamiętaj</a:t>
            </a:r>
            <a:r>
              <a:rPr lang="pl-PL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zanim staniesz się setną osobą pytającą o to czy będzie egzamin...</a:t>
            </a:r>
            <a:endParaRPr sz="20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9" descr="C:\Users\Sony\AppData\Local\Microsoft\Windows\Temporary Internet Files\Content.IE5\M0BO32M0\MP900401828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r="1" b="1250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Jak zorganizowany jest wykład?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godzin lekcyjnych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Krótkie przerwy techniczne pomiędzy dłuższymi wykładami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Zakończony </a:t>
            </a: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egzaminem</a:t>
            </a:r>
            <a:endParaRPr sz="2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wykładu (1/2)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Wprowadzenie do przedmiotu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 to jest telekomunikacja?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Podstawowe pojęcia, jednostki, ograniczenia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transmisyjne – kable miedziane w telekomunikacji i teleinformatyce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transmisyjne – kable światłowodowe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transmisyjne – transmisja bezprzewodowa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Transmisja sygnałów – systemy dostępu wielokrotnego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wykładu (2/2)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Kodowanie sygnałów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Podstawowe zagadnienia sieciowe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– algorytmy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– protokoły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Strumieniowanie treści multimedialnych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/>
              <a:t>Człowiek, ósma warstwa modelu ISO-OSI, jako element ekosystemu teleinformatycznego</a:t>
            </a:r>
            <a:endParaRPr/>
          </a:p>
          <a:p>
            <a:pPr marL="514350" marR="0" lvl="0" indent="-5143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 startAt="8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of Experience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22" descr="C:\Users\Sony\AppData\Local\Microsoft\Windows\Temporary Internet Files\Content.IE5\M0518IK9\MP900399544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15507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Egzamin</a:t>
            </a: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Pytania testujące wiedzę: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Wytłumaczyć pewne konkretne pojęcie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Rozwiązać proste zadanie</a:t>
            </a:r>
            <a:endParaRPr dirty="0"/>
          </a:p>
          <a:p>
            <a:pPr marL="342900" marR="0" lvl="0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Terminy: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 zerowy na ostatnim wykładzie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 pierwszy w sesji egzaminacyjnej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 drugi w sesji egzaminacyjnej</a:t>
            </a:r>
            <a:endParaRPr dirty="0"/>
          </a:p>
          <a:p>
            <a:pPr marL="742950" marR="0" lvl="1" indent="-2286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Ewentualny dodatkowy termin poprawkowy (decyzja uczelni, nie moja!)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Przykładowe pytania egzaminacyjne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Omów podstawowe cechy metody CSMA/CD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Opisz pojęcie MAC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Podaj niesystematyczny ciąg kodowy (przykład)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Dokonaj przekłamania ciągu kodu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Określ maksymalną liczbę słów kodowych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Opisz podstawowe cechy warstwy fizycznej modelu ISO/OSI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Określ odległość Hamminga par ciągów kodów: 10001-10000 oraz 00010-10100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 sieci: 149.156.114.128, maska: 255.255.255.128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Jaki jest adres </a:t>
            </a:r>
            <a:r>
              <a:rPr lang="pl-PL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tej sieci?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Podaj przykładowy adres IP komputera w takiej sieci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000"/>
              <a:buFont typeface="Arial"/>
              <a:buNone/>
            </a:pPr>
            <a:r>
              <a:rPr lang="pl-PL" sz="20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Czyli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zapamiętaj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zanim staniesz się dwusetną osobą pytająca jak zaliczyć projekt...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25" descr="C:\Users\Sony\AppData\Local\Microsoft\Windows\Temporary Internet Files\Content.IE5\T031AF31\MP900400367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r="1" b="1250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Opis zajęć projektowych (1/2)</a:t>
            </a:r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Studenci </a:t>
            </a: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opracowują hasła encyklopedyczne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 encyklopedii Wikipedia</a:t>
            </a: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 podstaw, albo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Przez rozwinięcie istniejącego hasła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Opis zajęć projektowych (2/2)</a:t>
            </a:r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Udział biorą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wszyscy studenci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pracując: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</a:pPr>
            <a:r>
              <a:rPr lang="pl-PL" sz="2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Pojedynczo</a:t>
            </a: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albo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</a:pPr>
            <a:r>
              <a:rPr lang="pl-PL" sz="2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 zespole dwuosobowym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Każdy student musi mieć osobne konto na Wikipedii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Każdy student/zespół będzie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miał przypisany: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</a:pPr>
            <a:r>
              <a:rPr lang="pl-PL" sz="2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Zalążek, np. zalążek z telekomunikacji, lub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</a:pPr>
            <a:r>
              <a:rPr lang="pl-PL" sz="2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Propozycję tematu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Zadanie: rozwinąć go do postaci możliwie najbliższej „artykułowi na medal”</a:t>
            </a:r>
            <a:endParaRPr sz="30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Opieka nad projektem</a:t>
            </a:r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 kolejnych slajdach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Wprowadzenie studentów w Wiki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Cel: zapewnienie, aby Państwa praca spełniała wytyczne obowiązujące na Wikipedii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 rozpoczęcia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projekt rozpoczyna się wraz z pierwszym wykładem i trwa cały semestr</a:t>
            </a:r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Podstawowe cechy Wikipedii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Wolna encyklopedia – tworzona w oparciu o wolną licencję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Internetowa encyklopedia: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Może być edytowana przez każdego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Posiada tysiące redaktorów (</a:t>
            </a: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Wikipedystów</a:t>
            </a: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internautów)</a:t>
            </a:r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Wprowadzenie dla studentów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Wielu z nich, tak jak wy, jest studentami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Prawie wszyscy Wikipedyści to ochotnicy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Dla Wikipedystów, edytowanie tego serwisu jest 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Przyjemnym (chociaż odpowiedzialnym) zajęciem, czy nawet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</a:pPr>
            <a:r>
              <a:rPr lang="pl-PL" sz="2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Hobby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Dlatego, mam nadzieję, że spodobają się wam te zajęcia i praca nad hasłami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Niewiele jest takich zajęć, na których trzeba robić coś, co dla tysięcy osób jest „świetną zabawą” ☺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30" descr="http://upload.wikimedia.org/wikipedia/commons/d/de/Www.wikipedia.org_screenshot.pn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882" r="-1" b="3856"/>
          <a:stretch/>
        </p:blipFill>
        <p:spPr>
          <a:xfrm>
            <a:off x="6090612" y="10"/>
            <a:ext cx="610138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Więcej o Wikipedii</a:t>
            </a:r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512702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Początek projektu –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2001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292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niezależnych wersji językowych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Wersja polska –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 względem rzeczywistej liczby artykułów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Utrzymanie projektu –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Fundacja Wikimedia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Fundacja Wikimedia 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organizacja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non-profit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10853928" y="635635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31" descr="http://upload.wikimedia.org/wikipedia/en/thumb/8/80/Wikipedia-logo-v2.svg/2000px-Wikipedia-logo-v2.svg.pn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8994" r="29327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31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Dlaczego Wikipedia? (1/2)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Wartościowy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ślad po Waszej pracy –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hasła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Nowe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Rozbudowane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Niemożność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łamania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praw autorskich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 txBox="1">
            <a:spLocks noGrp="1"/>
          </p:cNvSpPr>
          <p:nvPr>
            <p:ph type="sldNum" idx="12"/>
          </p:nvPr>
        </p:nvSpPr>
        <p:spPr>
          <a:xfrm>
            <a:off x="10167042" y="6356350"/>
            <a:ext cx="11867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3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3245" r="2" b="1"/>
          <a:stretch/>
        </p:blipFill>
        <p:spPr>
          <a:xfrm>
            <a:off x="5120640" y="1904281"/>
            <a:ext cx="6233160" cy="427268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Dlaczego Wikipedia? (2/2)</a:t>
            </a: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379780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Tworzenie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podpisanych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kont, przynajmniej: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Imię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Nazwisko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Edycja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tylko</a:t>
            </a:r>
            <a:r>
              <a:rPr lang="pl-PL"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będąc </a:t>
            </a: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zalogowanym na koncie</a:t>
            </a:r>
            <a:endParaRPr sz="20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(1/3)</a:t>
            </a:r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Dobre miejsce, od którego można startować w Wikipedii: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http://pl.wikipedia.org/wiki/Pomoc:Wst%C4%99p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Proszę zapoznać się ze stroną: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http://pl.wikipedia.org/wiki/Wikipedia:Projekty_szkolne_i_akademickie/zalecenia_dla_uczni%C3%B3w_i_student%C3%B3w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Jeśli są jakieś pytania lub wątpliwości, proszę zobaczyć na stronę: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http://pl.wikipedia.org/wiki/Pomoc:Spis_tre%C5%9Bci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(2/3)</a:t>
            </a:r>
            <a:endParaRPr/>
          </a:p>
        </p:txBody>
      </p:sp>
      <p:sp>
        <p:nvSpPr>
          <p:cNvPr id="271" name="Google Shape;271;p3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Jeżeli tam nie znajdzie się odpowiedzi, proszę: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Zapytaj wikipedystów wybierając odpowiednią podstronę tutaj: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http://pl.wikipedia.org/wiki/Pomoc:Pytania_nowicjuszy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Lub po prostu </a:t>
            </a: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skontaktować się ze mną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Zanim zada się pytania, proszę sprawdź czy odpowiedzi na nie ma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tutaj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http://pl.wikipedia.org/wiki/Pomoc:FAQ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Wiele przydatnych informacji na tej stronie</a:t>
            </a:r>
            <a:endParaRPr/>
          </a:p>
        </p:txBody>
      </p:sp>
      <p:sp>
        <p:nvSpPr>
          <p:cNvPr id="272" name="Google Shape;272;p3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(3/3)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Wszystkie tematy pomocy zebrane na stronie: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http://pl.wikipedia.org/wiki/Pomoc:Spis_tre%C5%9Bci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jej pod-stronach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Podczas edycji można korzystać ze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„Ściągi”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http://pl.wikipedia.org/wiki/Pomoc:Formatowanie_tekstu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Można najpierw poćwiczyć korzystając z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„Brudnopisu”</a:t>
            </a:r>
            <a:r>
              <a:rPr lang="pl-PL" sz="30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http://pl.wikipedia.org/wiki/Wikipedia:Brudnopis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Edycja</a:t>
            </a:r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Przed zrobieniem jakichkolwiek edycji, zaleca się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„utworzenie nowego konta”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200" b="1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pl-PL" sz="2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http://pl.wikipedia.org/wiki/Pomoc:Logowanie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pewnością będzie potrzebne własne konto użytkownika zanim zacznie się pracę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przeciwnym razie nie będę w stanie potem ocenić pracy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Standardy Wikipedii</a:t>
            </a:r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Należy pamiętać, że Wikipedia nie jest projektem ograniczonym tylko do uczelni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Jesteśmy tutaj gośćmi i powinniśmy zachować odpowiednie standardy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Proszę zapoznać się z </a:t>
            </a:r>
            <a:r>
              <a:rPr lang="pl-PL" sz="32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„Wiki-etykietą”</a:t>
            </a:r>
            <a:r>
              <a:rPr lang="pl-PL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http://pl.wikipedia.org/wiki/Wikipedia:Wikietykieta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Proszę pomyśl jakie chce się zostawić po sobie i naszej uczelni wrażenie</a:t>
            </a:r>
            <a:endParaRPr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Komunikacja (1/3)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Można spodziewać się, że kontaktować będą się: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Prowadzący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Inni studenci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Koledzy, czy nawet (albo w szczególności)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Inni Wikipedyści (nie związani z uczelnią)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Kontakt przez </a:t>
            </a:r>
            <a:r>
              <a:rPr lang="pl-PL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„stronę dyskusji”</a:t>
            </a: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http://pl.wikipedia.org/wiki/Pomoc:Strona_dyskusji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Gdy pracuje się nad zadaniem, powinno się logować i sprawdzać wiadomości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Podobnie jak sprawdza się swoją pocztę</a:t>
            </a:r>
            <a:endParaRPr dirty="0"/>
          </a:p>
        </p:txBody>
      </p:sp>
      <p:sp>
        <p:nvSpPr>
          <p:cNvPr id="304" name="Google Shape;304;p3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Komunikacja (2/3)</a:t>
            </a:r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Informacja na pomarańczowym tle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„Masz nową wiadomość”</a:t>
            </a:r>
            <a:endParaRPr sz="30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każdym razem, gdy dostanie się nową wiadomość i będzie się zalogowanym w Wikipedii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Informacja pojawi się na każdej stronie Wikipedii, którą się przegląda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pasek z informacją zniknął, musi się w niego kliknąć i przeczytać pozostawioną wiadomość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Komunikacja (3/3)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Zwyczajowo zostawia się nowe wiadomości na stronach dyskusji swoich rozmówców (na dole)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Zostawianie wiadomości –upewnić się, że edytuje się stronę dyskusji, a nie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„stronę użytkownika”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http://pl.wikipedia.org/wiki/Wikipedia:Strona_u%C5%BCytkownika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Proszę pamiętać o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podpisie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http://pl.wikipedia.org/wiki/Pomoc:Podpis_wikipedysty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Cztery tyldy ~~~~</a:t>
            </a:r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Podpisywanie kont (1/2)</a:t>
            </a:r>
            <a:endParaRPr/>
          </a:p>
        </p:txBody>
      </p:sp>
      <p:pic>
        <p:nvPicPr>
          <p:cNvPr id="327" name="Google Shape;327;p4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2389803"/>
            <a:ext cx="8229600" cy="294675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Podpisywanie kont (2/2)</a:t>
            </a:r>
            <a:endParaRPr/>
          </a:p>
        </p:txBody>
      </p:sp>
      <p:pic>
        <p:nvPicPr>
          <p:cNvPr id="335" name="Google Shape;335;p4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1770910"/>
            <a:ext cx="8229600" cy="418454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p43" descr="C:\Users\Sony\AppData\Local\Microsoft\Windows\Temporary Internet Files\Content.IE5\T031AF31\MP900408864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r="2085" b="3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3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Prawa autorskie (1/2)</a:t>
            </a:r>
            <a:endParaRPr/>
          </a:p>
        </p:txBody>
      </p:sp>
      <p:sp>
        <p:nvSpPr>
          <p:cNvPr id="345" name="Google Shape;345;p43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512702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Encyklopedia Wikipedia: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Wolna od opłat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Licencja </a:t>
            </a: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GNU Free Documentation License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włączać materiałów łamiąc prawo autorskie</a:t>
            </a:r>
            <a:endParaRPr sz="2800" b="1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Prawa autorskie (2/2)</a:t>
            </a:r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Proszę więc, tworząc i rozbudowując hasła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plagiatować</a:t>
            </a:r>
            <a:endParaRPr sz="3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Tego typu treści będą niezwłocznie usuwane z Wikipedii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Konsekwencją będzie wykluczenie z projektu studenckiego</a:t>
            </a:r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1" name="Google Shape;361;p4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20002" r="18993" b="-1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5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Jakie hasła opracować?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Tylko ściśle związane z tematyka przedmiotu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Kategoria </a:t>
            </a: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„Telekomunikacja”</a:t>
            </a: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http://pl.wikipedia.org/wiki/Kategoria:Telekomunikacja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Pierwsze zadanie: samodzielny wybór hasła!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5"/>
          <p:cNvSpPr txBox="1"/>
          <p:nvPr/>
        </p:nvSpPr>
        <p:spPr>
          <a:xfrm>
            <a:off x="7556408" y="0"/>
            <a:ext cx="4635591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Richard Bartz, Munich aka Makro Freak – Own work, CC BY-SA 2.5, </a:t>
            </a:r>
            <a:r>
              <a:rPr lang="pl-PL" sz="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https://commons.wikimedia.org/w/index.php?curid=3798274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Zadanie do wykonania a liczebność zespołu</a:t>
            </a:r>
            <a:endParaRPr/>
          </a:p>
        </p:txBody>
      </p:sp>
      <p:sp>
        <p:nvSpPr>
          <p:cNvPr id="372" name="Google Shape;372;p4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l-PL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Zespół dwuosobowy</a:t>
            </a:r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Opracowanie od podstaw jednego hasła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Inspiracje: </a:t>
            </a: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„Propozycje tematów”</a:t>
            </a: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pl-PL" sz="2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http://pl.wikipedia.org/wiki/Wikipedia:Propozycje_temat%C3%B3w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l-PL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Zespół jednoosobowy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pl-PL"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Rozwinięcie jednego, istniejącego już hasła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Inspiracje: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–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„Strony wymagające dopracowania”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http://pl.wikipedia.org/wiki/Wikipedia:Strony_wymagaj%C4%85ce_dopracowania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–"/>
            </a:pPr>
            <a:r>
              <a:rPr lang="pl-PL" sz="2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„Zalążki artykułów”</a:t>
            </a:r>
            <a:r>
              <a:rPr lang="pl-P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0" lvl="2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l-PL" sz="1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http://pl.wikipedia.org/wiki/Kategoria:Zal%C4%85%C5%BCki_artyku%C5%82%C3%B3w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9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 sposoby na szukanie ciekawego tematu (1/3)</a:t>
            </a:r>
            <a:endParaRPr sz="39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Najpotrzebniejsze strony: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http://pl.wikipedia.org/wiki/Szablon:Potrzebne/Kolejka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Strony do przetłumaczenia: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http://pl.wikipedia.org/wiki/Wikipedia:Strony_do_przet%C5%82umaczenia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http://pl.wikipedia.org/wiki/Wikipedia:T%C5%82umaczenie_miesi%C4%85ca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9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 sposoby na szukanie ciekawego tematu (2/3)</a:t>
            </a:r>
            <a:endParaRPr sz="39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Zalążki: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http://pl.wikipedia.org/wiki/Wikipedia:Zal%C4%85%C5%BCki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Brakujące artykuły: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http://pl.wikipedia.org/wiki/Wikipedia:Brakuj%C4%85ce_artyku%C5%82y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Strony do poszerzenia: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http://pl.wikipedia.org/wiki/Kategoria:Strony_do_poszerzenia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9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 sposoby na szukanie ciekawego tematu (3/3)</a:t>
            </a:r>
            <a:endParaRPr sz="39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Porzucone strony: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http://pl.wikipedia.org/wiki/Specjalna:Porzucone_strony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Artykuły kontrowersyjne: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http://pl.wikipedia.org/wiki/Wikipedia:Artyku%C5%82y_kontrowersyjne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Ilustrowanie: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http://pl.wikipedia.org/wiki/Wikiprojekt:Ilustrowanie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Rozpoczęcie pracy – krok po kroku (1/2)</a:t>
            </a:r>
            <a:endParaRPr/>
          </a:p>
        </p:txBody>
      </p:sp>
      <p:sp>
        <p:nvSpPr>
          <p:cNvPr id="407" name="Google Shape;407;p5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Zdecyduj się na: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Pracę samodzielną: wystarczy rozwinąć hasło‏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Pracę w dwuosobowym zespole: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Dobierz druga osobę</a:t>
            </a:r>
            <a:endParaRPr/>
          </a:p>
          <a:p>
            <a:pPr marL="1143000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Trzeba stworzyć nowe hasło‏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Załóż nowe konto jeśli jesteś nowym użytkownikiem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Wybierz hasło do edycji</a:t>
            </a:r>
            <a:endParaRPr/>
          </a:p>
        </p:txBody>
      </p:sp>
      <p:sp>
        <p:nvSpPr>
          <p:cNvPr id="408" name="Google Shape;408;p5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Rozpoczęcie pracy – krok po kroku (2/2)</a:t>
            </a:r>
            <a:endParaRPr/>
          </a:p>
        </p:txBody>
      </p:sp>
      <p:sp>
        <p:nvSpPr>
          <p:cNvPr id="415" name="Google Shape;415;p5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Wyślij do mnie: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Wybrane hasło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Swoje dane: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Imię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Nazwisko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 grupy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 indeksu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Nazwę użytkownika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Ewentualnie analogiczne dane dla drugiej osoby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 potwierdzeniu (dopiero wtedy) – zacznij pracę</a:t>
            </a:r>
            <a:endParaRPr/>
          </a:p>
        </p:txBody>
      </p:sp>
      <p:sp>
        <p:nvSpPr>
          <p:cNvPr id="416" name="Google Shape;416;p5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Zakończenie pracy – krok po kroku</a:t>
            </a:r>
            <a:endParaRPr/>
          </a:p>
        </p:txBody>
      </p:sp>
      <p:sp>
        <p:nvSpPr>
          <p:cNvPr id="423" name="Google Shape;423;p5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Prześlij mi informację, że hasło jest gotowe lub rozwinięte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Jeśli mam uwagi, a jest jeszcze czas do końca semestru – popraw hasło</a:t>
            </a:r>
            <a:endParaRPr/>
          </a:p>
        </p:txBody>
      </p:sp>
      <p:sp>
        <p:nvSpPr>
          <p:cNvPr id="424" name="Google Shape;424;p5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1" name="Google Shape;431;p53" descr="C:\Users\Sony\AppData\Local\Microsoft\Windows\Temporary Internet Files\Content.IE5\0BOI5B7V\MP900399577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l="15507"/>
          <a:stretch/>
        </p:blipFill>
        <p:spPr>
          <a:xfrm>
            <a:off x="7556408" y="10"/>
            <a:ext cx="463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3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Skala ocen i sposób oceniania przeze mnie projektów</a:t>
            </a:r>
            <a:endParaRPr/>
          </a:p>
        </p:txBody>
      </p:sp>
      <p:sp>
        <p:nvSpPr>
          <p:cNvPr id="433" name="Google Shape;433;p53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 2.0 do 4.5: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standardowo gorzej lub lepiej rozwinięte hasło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 – możliwe za: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Wybitnie opracowane hasło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Jednoosobowe stworzenie nowego hasła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3.0:</a:t>
            </a:r>
            <a:endParaRPr/>
          </a:p>
          <a:p>
            <a:pPr marL="742950" marR="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l-P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Gdy po terminie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 robić, a czego unikać (1/2)</a:t>
            </a:r>
            <a:endParaRPr/>
          </a:p>
        </p:txBody>
      </p:sp>
      <p:sp>
        <p:nvSpPr>
          <p:cNvPr id="441" name="Google Shape;441;p5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razie wątpliwości zaglądnąć na stronę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zasad edycji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http://pl.wikipedia.org/wiki/Wikipedia:Zasady</a:t>
            </a:r>
            <a:endParaRPr sz="2600" b="1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Zajrzeć do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listy brakujących haseł (artykułów) Wikipedii</a:t>
            </a: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http://pl.wikipedia.org/wiki/Wikipedia:Brakuj%C4%85ce_artyku%C5%82y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przypadku problemów ze znalezieniem zagadnienia, które nie zostało jeszcze opisane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Korzystać z książek, ale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kopiować treści z naruszeniem praw autorskich</a:t>
            </a:r>
            <a:endParaRPr/>
          </a:p>
        </p:txBody>
      </p:sp>
      <p:sp>
        <p:nvSpPr>
          <p:cNvPr id="442" name="Google Shape;442;p5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 robić, a czego unikać (2/2)</a:t>
            </a:r>
            <a:endParaRPr/>
          </a:p>
        </p:txBody>
      </p:sp>
      <p:sp>
        <p:nvSpPr>
          <p:cNvPr id="449" name="Google Shape;449;p5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Wykorzystywać wszelkie materiały: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Które się do tej pory opracowało, lub</a:t>
            </a:r>
            <a:endParaRPr dirty="0"/>
          </a:p>
          <a:p>
            <a:pPr marL="742950" marR="0" lvl="1" indent="-28575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pl-PL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Które się opracowuje w ramach zajęć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 stosować takich form literackich jak </a:t>
            </a:r>
            <a:r>
              <a:rPr lang="pl-PL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eseje</a:t>
            </a:r>
            <a:r>
              <a:rPr lang="pl-PL" sz="30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czy </a:t>
            </a:r>
            <a:r>
              <a:rPr lang="pl-PL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felietony</a:t>
            </a:r>
            <a:r>
              <a:rPr lang="pl-PL" sz="30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pisząc hasła encyklopedyczne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Używać sformułowań typu „A powiedział B o C”, kiedy ważne jest przedstawienie czyjejś opinii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 spędzać zbyt dużo czasu na naukę </a:t>
            </a:r>
            <a:r>
              <a:rPr lang="pl-PL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składni Wiki</a:t>
            </a:r>
            <a:r>
              <a:rPr lang="pl-PL" sz="30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czy </a:t>
            </a:r>
            <a:r>
              <a:rPr lang="pl-PL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stylu Wikipedii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Można też napisać o uczelni! ☺</a:t>
            </a:r>
            <a:endParaRPr dirty="0"/>
          </a:p>
        </p:txBody>
      </p:sp>
      <p:sp>
        <p:nvSpPr>
          <p:cNvPr id="450" name="Google Shape;450;p5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Kilka innych przydatnych rad (1/2)</a:t>
            </a:r>
            <a:endParaRPr/>
          </a:p>
        </p:txBody>
      </p:sp>
      <p:sp>
        <p:nvSpPr>
          <p:cNvPr id="457" name="Google Shape;457;p5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 każdym razem, gdy chce się edytować i zapisać stronę, proszę wypełnić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opis zmian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http://pl.wikipedia.org/wiki/Wikipedia:Opis_zmian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następnie zobaczyć podgląd wprowadzonych przez siebie zmian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Aby upewnić się, że strona wygląda tak jak się chce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Dopiero wtedy proszę klikać przycisk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„Zapisz”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Kilka innych przydatnych rad (2/2)</a:t>
            </a:r>
            <a:endParaRPr/>
          </a:p>
        </p:txBody>
      </p:sp>
      <p:sp>
        <p:nvSpPr>
          <p:cNvPr id="465" name="Google Shape;465;p5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Historię strony można znaleźć w zakładce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historia i autorzy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http://pl.wikipedia.org/wiki/Pomoc:Historia_strony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Jeżeli wykonałeś zmiany, wstaw informację o tym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Można także używać narzędzia do obserwowania wybranych przez siebie stron</a:t>
            </a:r>
            <a:endParaRPr/>
          </a:p>
        </p:txBody>
      </p:sp>
      <p:sp>
        <p:nvSpPr>
          <p:cNvPr id="466" name="Google Shape;466;p5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Wikipedia – grzechy główne, czyli jak NIE dostać zaliczenia? ☺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</a:t>
            </a:r>
            <a:r>
              <a:rPr lang="pl-PL" sz="3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będziesz kopiował z nieautoryzowanych źródeł!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BĘDZIESZ</a:t>
            </a:r>
            <a:r>
              <a:rPr lang="pl-PL" sz="3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zawsze opisywał konto!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BĘDZIESZ</a:t>
            </a:r>
            <a:r>
              <a:rPr lang="pl-PL" sz="3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zawsze integrował swój wkład z już istniejącym artykułem!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</a:pP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BĘDZIESZ</a:t>
            </a:r>
            <a:r>
              <a:rPr lang="pl-PL" sz="3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zawsze formatował tekst (Wikipedia to więcej niż „goły” tekst)</a:t>
            </a:r>
            <a:endParaRPr/>
          </a:p>
        </p:txBody>
      </p:sp>
      <p:sp>
        <p:nvSpPr>
          <p:cNvPr id="474" name="Google Shape;474;p5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Wymiana maili ze mną – uwagi ogólne (1/2)</a:t>
            </a:r>
            <a:endParaRPr/>
          </a:p>
        </p:txBody>
      </p:sp>
      <p:sp>
        <p:nvSpPr>
          <p:cNvPr id="481" name="Google Shape;481;p5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Odpowiadam</a:t>
            </a:r>
            <a:r>
              <a:rPr lang="pl-PL"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każdy e-mail z pytaniem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Odpowiedź zwykle w ciągu max kilku dni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Brak odpowiedzi – e-mail </a:t>
            </a: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doszedł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 </a:t>
            </a: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anty-spam</a:t>
            </a: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czasem wycina </a:t>
            </a:r>
            <a:r>
              <a:rPr lang="pl-PL" sz="2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„dziwne”</a:t>
            </a: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adresy</a:t>
            </a:r>
            <a:endParaRPr/>
          </a:p>
        </p:txBody>
      </p:sp>
      <p:pic>
        <p:nvPicPr>
          <p:cNvPr id="482" name="Google Shape;482;p59" descr="C:\Users\Sony\AppData\Local\Microsoft\Windows\Temporary Internet Files\Content.IE5\0BOI5B7V\MP900422242[1]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526974"/>
            <a:ext cx="4038600" cy="267241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Wymiana maili ze mną – uwagi ogólne (2/2)</a:t>
            </a:r>
            <a:endParaRPr/>
          </a:p>
        </p:txBody>
      </p:sp>
      <p:sp>
        <p:nvSpPr>
          <p:cNvPr id="490" name="Google Shape;490;p6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Kiedy jestem na delegacji (to częste) to otrzymasz </a:t>
            </a:r>
            <a:r>
              <a:rPr lang="pl-PL" sz="2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auto-odpowiedź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Auto-odpowiedź </a:t>
            </a:r>
            <a:r>
              <a:rPr lang="pl-PL" sz="2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oznacza</a:t>
            </a: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że e-mail nie doszedł, czytaj uważnie! nie wysyłaj ponownie!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E-maile podpisujemy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Zaczęcie pracy przed potwierdzeniem tematu jest </a:t>
            </a:r>
            <a:r>
              <a:rPr lang="pl-PL" sz="2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ryzykowne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Char char="•"/>
            </a:pPr>
            <a:r>
              <a:rPr lang="pl-PL" sz="2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Nie masz </a:t>
            </a: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zaliczenia dopóki nie otrzymasz e-maila z oceną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pl-PL"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Tak, czasem posiadam dodatkowe materiały, zazwyczaj </a:t>
            </a:r>
            <a:r>
              <a:rPr lang="pl-PL" sz="27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 angielsku</a:t>
            </a:r>
            <a:endParaRPr/>
          </a:p>
        </p:txBody>
      </p:sp>
      <p:sp>
        <p:nvSpPr>
          <p:cNvPr id="491" name="Google Shape;491;p6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48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Ważna informacja (jeszcze raz)</a:t>
            </a:r>
            <a:endParaRPr/>
          </a:p>
        </p:txBody>
      </p:sp>
      <p:sp>
        <p:nvSpPr>
          <p:cNvPr id="498" name="Google Shape;498;p6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Pamiętaj, aby przed dokonaniem edycji, </a:t>
            </a:r>
            <a:r>
              <a:rPr lang="pl-PL" sz="3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zalogować się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Jeżeli nie zalogujesz się, nie będę miał możliwości zweryfikować Twoich edycji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Przez to nie będę mógł też ocenić Twojej pracy 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Tego typu praca nie będzie mogła być zaliczana</a:t>
            </a:r>
            <a:endParaRPr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pl-PL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Każdy student powinien powiadomić Prowadzącego o tym, pod jakim loginem edytuje</a:t>
            </a:r>
            <a:endParaRPr/>
          </a:p>
          <a:p>
            <a:pPr marL="342900" marR="0" lvl="0" indent="-152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49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Wstępne ćwiczenie (1/3)</a:t>
            </a:r>
            <a:endParaRPr/>
          </a:p>
        </p:txBody>
      </p:sp>
      <p:sp>
        <p:nvSpPr>
          <p:cNvPr id="506" name="Google Shape;506;p6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 zapoznaniu się z tym, jak działa Wikipedia, można wykonać kilka ćwiczeń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Ćwiczenia te: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Nie tylko pozwolą nabrać doświadczenia w edytowaniu stron Wiki</a:t>
            </a:r>
            <a:endParaRPr/>
          </a:p>
          <a:p>
            <a:pPr marL="742950" marR="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pl-PL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 i pozwoli to też lepiej zaliczyć zadanie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Pamiętaj, że w menu bocznym zawsze możesz skorzystać z FAQ i stron pomocy</a:t>
            </a:r>
            <a:endParaRPr/>
          </a:p>
        </p:txBody>
      </p:sp>
      <p:sp>
        <p:nvSpPr>
          <p:cNvPr id="507" name="Google Shape;507;p6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Wstępne ćwiczenie (2/3)</a:t>
            </a:r>
            <a:endParaRPr/>
          </a:p>
        </p:txBody>
      </p:sp>
      <p:sp>
        <p:nvSpPr>
          <p:cNvPr id="514" name="Google Shape;514;p6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początku spróbuj poszerzyć lub poprawić jeden z istniejących już artykułów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Wikipedia opisuje zagadnienia z każdej dziedziny wiedzy w szerokim rozumieniu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pewno więc znajdziesz coś, co jest związane z twoim hobby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Staraj się jednak poszerzać te artykuły, które związane są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 telekomunikacją</a:t>
            </a:r>
            <a:endParaRPr sz="3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Wstępne ćwiczenie (3/3)</a:t>
            </a:r>
            <a:endParaRPr/>
          </a:p>
        </p:txBody>
      </p:sp>
      <p:sp>
        <p:nvSpPr>
          <p:cNvPr id="522" name="Google Shape;522;p6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Jeśli chcesz wykonać więcej, niż zaleca to ćwiczenie, nie musisz nikogo pytać o zdanie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Znacząca rozbudowa oznacza sytuację, gdy hasło nie jest już tylko zalążkiem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Wejdź na stronie hasła w zakładkę </a:t>
            </a:r>
            <a:r>
              <a:rPr lang="pl-PL" sz="3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„historia i autorzy”</a:t>
            </a:r>
            <a:endParaRPr sz="32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l-PL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Zobacz, czy hasło ma więcej niż 5000 znaków (bajtów)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0" name="Google Shape;530;p65" descr="http://www.mwattorneys.com/blog/wp-content/uploads/2012/07/iceberg.jp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2727" r="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5"/>
          <p:cNvSpPr txBox="1"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Przydatne linki w Wikipedii („wierzchołek góry lodowej”)</a:t>
            </a:r>
            <a:endParaRPr/>
          </a:p>
        </p:txBody>
      </p:sp>
      <p:sp>
        <p:nvSpPr>
          <p:cNvPr id="532" name="Google Shape;532;p65"/>
          <p:cNvSpPr txBox="1">
            <a:spLocks noGrp="1"/>
          </p:cNvSpPr>
          <p:nvPr>
            <p:ph type="body" idx="1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pl-PL" sz="2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„Wikipedia – Strona główna”</a:t>
            </a: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l-PL" sz="2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http://www.wikipedia.pl/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pl-PL" sz="2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„GNU Free Documentation License”</a:t>
            </a: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l-PL" sz="2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http://pl.wikipedia.org/wiki/GNU_Free_Documentation_License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pl-PL" sz="2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„Projekty akademickie”</a:t>
            </a: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l-PL" sz="2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http://pl.wikipedia.org/wiki/Wikipedia:Projekty_szkolne_i_akademickie/zalecenia_dla_uczni%C3%B3w_i_student%C3%B3w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</a:pPr>
            <a:r>
              <a:rPr lang="pl-PL" sz="22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„Creative Commons”</a:t>
            </a:r>
            <a:r>
              <a:rPr lang="pl-PL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l-PL" sz="2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http://pl.wikipedia.org/wiki/Licencja_Creative_Commons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5"/>
          <p:cNvSpPr txBox="1">
            <a:spLocks noGrp="1"/>
          </p:cNvSpPr>
          <p:nvPr>
            <p:ph type="sldNum" idx="12"/>
          </p:nvPr>
        </p:nvSpPr>
        <p:spPr>
          <a:xfrm>
            <a:off x="10167042" y="6356350"/>
            <a:ext cx="11867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2570</Words>
  <Application>Microsoft Macintosh PowerPoint</Application>
  <PresentationFormat>Widescreen</PresentationFormat>
  <Paragraphs>380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Motyw pakietu Office</vt:lpstr>
      <vt:lpstr>Podstawy telekomunikacji – wprowadzenie do przedmiotu</vt:lpstr>
      <vt:lpstr>Spis treści wykładu</vt:lpstr>
      <vt:lpstr>O MNIE</vt:lpstr>
      <vt:lpstr>Ogólne informacje</vt:lpstr>
      <vt:lpstr>Kontakt ze mną</vt:lpstr>
      <vt:lpstr>WYKŁAD</vt:lpstr>
      <vt:lpstr>Jak zorganizowany jest wykład?</vt:lpstr>
      <vt:lpstr>Program wykładu (1/2)</vt:lpstr>
      <vt:lpstr>Program wykładu (2/2)</vt:lpstr>
      <vt:lpstr>Egzamin</vt:lpstr>
      <vt:lpstr>Przykładowe pytania egzaminacyjne</vt:lpstr>
      <vt:lpstr>PROJEKT</vt:lpstr>
      <vt:lpstr>Opis zajęć projektowych (1/2)</vt:lpstr>
      <vt:lpstr>Opis zajęć projektowych (2/2)</vt:lpstr>
      <vt:lpstr>Opieka nad projektem</vt:lpstr>
      <vt:lpstr>Podstawowe cechy Wikipedii</vt:lpstr>
      <vt:lpstr>Wprowadzenie dla studentów</vt:lpstr>
      <vt:lpstr>Więcej o Wikipedii</vt:lpstr>
      <vt:lpstr>Dlaczego Wikipedia? (1/2)</vt:lpstr>
      <vt:lpstr>Dlaczego Wikipedia? (2/2)</vt:lpstr>
      <vt:lpstr>Start (1/3)</vt:lpstr>
      <vt:lpstr>Start (2/3)</vt:lpstr>
      <vt:lpstr>Start (3/3)</vt:lpstr>
      <vt:lpstr>Edycja</vt:lpstr>
      <vt:lpstr>Standardy Wikipedii</vt:lpstr>
      <vt:lpstr>Komunikacja (1/3)</vt:lpstr>
      <vt:lpstr>Komunikacja (2/3)</vt:lpstr>
      <vt:lpstr>Komunikacja (3/3)</vt:lpstr>
      <vt:lpstr>Podpisywanie kont (1/2)</vt:lpstr>
      <vt:lpstr>Podpisywanie kont (2/2)</vt:lpstr>
      <vt:lpstr>Prawa autorskie (1/2)</vt:lpstr>
      <vt:lpstr>Prawa autorskie (2/2)</vt:lpstr>
      <vt:lpstr>Jakie hasła opracować?</vt:lpstr>
      <vt:lpstr>Zadanie do wykonania a liczebność zespołu</vt:lpstr>
      <vt:lpstr>Inne sposoby na szukanie ciekawego tematu (1/3)</vt:lpstr>
      <vt:lpstr>Inne sposoby na szukanie ciekawego tematu (2/3)</vt:lpstr>
      <vt:lpstr>Inne sposoby na szukanie ciekawego tematu (3/3)</vt:lpstr>
      <vt:lpstr>Rozpoczęcie pracy – krok po kroku (1/2)</vt:lpstr>
      <vt:lpstr>Rozpoczęcie pracy – krok po kroku (2/2)</vt:lpstr>
      <vt:lpstr>Zakończenie pracy – krok po kroku</vt:lpstr>
      <vt:lpstr>Skala ocen i sposób oceniania przeze mnie projektów</vt:lpstr>
      <vt:lpstr>Co robić, a czego unikać (1/2)</vt:lpstr>
      <vt:lpstr>Co robić, a czego unikać (2/2)</vt:lpstr>
      <vt:lpstr>Kilka innych przydatnych rad (1/2)</vt:lpstr>
      <vt:lpstr>Kilka innych przydatnych rad (2/2)</vt:lpstr>
      <vt:lpstr>Wikipedia – grzechy główne, czyli jak NIE dostać zaliczenia? ☺</vt:lpstr>
      <vt:lpstr>Wymiana maili ze mną – uwagi ogólne (1/2)</vt:lpstr>
      <vt:lpstr>Wymiana maili ze mną – uwagi ogólne (2/2)</vt:lpstr>
      <vt:lpstr>Ważna informacja (jeszcze raz)</vt:lpstr>
      <vt:lpstr>Wstępne ćwiczenie (1/3)</vt:lpstr>
      <vt:lpstr>Wstępne ćwiczenie (2/3)</vt:lpstr>
      <vt:lpstr>Wstępne ćwiczenie (3/3)</vt:lpstr>
      <vt:lpstr>Przydatne linki w Wikipedii („wierzchołek góry lodowej”)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Podstawy telekomunikacji – wprowadzenie do przedmiotu</dc:title>
  <cp:lastModifiedBy>Mikołaj Leszczuk</cp:lastModifiedBy>
  <cp:revision>4</cp:revision>
  <dcterms:modified xsi:type="dcterms:W3CDTF">2025-10-03T22:15:13Z</dcterms:modified>
</cp:coreProperties>
</file>